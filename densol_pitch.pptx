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A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286000"/>
            <a:ext cx="11887200" cy="4572000"/>
          </a:xfrm>
          <a:prstGeom prst="ellipse">
            <a:avLst/>
          </a:prstGeom>
          <a:solidFill>
            <a:srgbClr val="2CDD6D">
              <a:alpha val="8000"/>
            </a:srgbClr>
          </a:solidFill>
          <a:ln w="12700">
            <a:solidFill>
              <a:srgbClr val="2CDD6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28016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densol</a:t>
            </a:r>
            <a:endParaRPr lang="en-US" sz="8400" dirty="0"/>
          </a:p>
        </p:txBody>
      </p:sp>
      <p:sp>
        <p:nvSpPr>
          <p:cNvPr id="4" name="Shape 2"/>
          <p:cNvSpPr/>
          <p:nvPr/>
        </p:nvSpPr>
        <p:spPr>
          <a:xfrm>
            <a:off x="640080" y="2926080"/>
            <a:ext cx="2926080" cy="2286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063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compression for Solana Anchor programs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 to 54× compression  ·  Data stays on-chain  ·  Zero off-chain infrastructure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Hack Warsaw  ·  March 22,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A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rent is proportional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account size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120640" cy="2286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49377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byte stored on-chain locks SOL as rent — forever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Data-heavy programs pay enormous, compounding costs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OpenBook pre-allocates 90,952 bytes per orderbook side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that data is zeros — sparse critbit tree slots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0" y="594360"/>
            <a:ext cx="2423160" cy="3931920"/>
          </a:xfrm>
          <a:prstGeom prst="rect">
            <a:avLst/>
          </a:prstGeom>
          <a:solidFill>
            <a:srgbClr val="111520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0" y="594360"/>
            <a:ext cx="242316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91440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0.63</a:t>
            </a:r>
            <a:endParaRPr lang="en-US" sz="70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92240" y="28803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per OpenBook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orderbook side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92240" y="35661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~54× compressible*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8006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Measured on mainnet data. Direct integration requires protocol adoption — see results slide.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A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INSIGHT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stays on-chain.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Merkle trees. No indexer.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8046720" cy="2286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57400"/>
            <a:ext cx="3931920" cy="2743200"/>
          </a:xfrm>
          <a:prstGeom prst="rect">
            <a:avLst/>
          </a:prstGeom>
          <a:solidFill>
            <a:srgbClr val="0D1018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17627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ZK Compression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~292,000 CU per tx (fixed overhead)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lives off-chain in ledger/indexer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Helius Photon indexer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NFTs &amp; millions of tiny accounts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3931920" cy="2743200"/>
          </a:xfrm>
          <a:prstGeom prst="rect">
            <a:avLst/>
          </a:prstGeom>
          <a:solidFill>
            <a:srgbClr val="111520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057400"/>
            <a:ext cx="393192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17627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densol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651760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~10,000–15,000 CU per write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stays fully on-chain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off-chain infrastructure</a:t>
            </a:r>
            <a:endParaRPr lang="en-US" sz="14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for any Anchor/Borsh program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A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LZ4 that fits the SBF VM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89888"/>
            <a:ext cx="8046720" cy="2286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72768"/>
            <a:ext cx="4114800" cy="1417320"/>
          </a:xfrm>
          <a:prstGeom prst="rect">
            <a:avLst/>
          </a:prstGeom>
          <a:solidFill>
            <a:srgbClr val="0D1018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099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no_std Rust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121408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libc dependencies — compiles for BPF with no patches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892040" y="1572768"/>
            <a:ext cx="4114800" cy="1417320"/>
          </a:xfrm>
          <a:prstGeom prst="rect">
            <a:avLst/>
          </a:prstGeom>
          <a:solidFill>
            <a:srgbClr val="0D1018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120640" y="17099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KB stack table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120640" y="2121408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table lives on the stack; heap stays free for your data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172968"/>
            <a:ext cx="4114800" cy="1417320"/>
          </a:xfrm>
          <a:prstGeom prst="rect">
            <a:avLst/>
          </a:prstGeom>
          <a:solidFill>
            <a:srgbClr val="0D1018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33101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ChunkedLz4&lt;4096&gt;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3721608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KB chunks — decompress one at a time, no heap ceiling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892040" y="3172968"/>
            <a:ext cx="4114800" cy="1417320"/>
          </a:xfrm>
          <a:prstGeom prst="rect">
            <a:avLst/>
          </a:prstGeom>
          <a:solidFill>
            <a:srgbClr val="0D1018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33101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#[compress]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0" y="3721608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derive attribute on any Vec&lt;u8&gt; field in an Anchor account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4754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crates.io/crates/densol  ·  MIT licensed  ·  Open source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A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RESULTS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mainnet accounts  ·  March 21, 2026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0" y="502920"/>
            <a:ext cx="1508760" cy="1143000"/>
          </a:xfrm>
          <a:prstGeom prst="rect">
            <a:avLst/>
          </a:prstGeom>
          <a:solidFill>
            <a:srgbClr val="111520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0" y="502920"/>
            <a:ext cx="1508760" cy="32004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0" y="54864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53×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0" y="117043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OpenBook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8046720" cy="2286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53312"/>
          <a:ext cx="8229600" cy="3090672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ADE80"/>
                          </a:solidFill>
                        </a:rPr>
                        <a:t>Account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DE80"/>
                          </a:solidFill>
                        </a:rPr>
                        <a:t>Raw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DE80"/>
                          </a:solidFill>
                        </a:rPr>
                        <a:t>Compressed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DE80"/>
                          </a:solidFill>
                        </a:rPr>
                        <a:t>Ratio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DE80"/>
                          </a:solidFill>
                        </a:rPr>
                        <a:t>Rent Saved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4ADE80"/>
                          </a:solidFill>
                        </a:rPr>
                        <a:t>Status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5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B5563"/>
                          </a:solidFill>
                        </a:rPr>
                        <a:t>OpenBook Bids †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B5563"/>
                          </a:solidFill>
                        </a:rPr>
                        <a:t>90,952 B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CA3AF"/>
                          </a:solidFill>
                        </a:rPr>
                        <a:t>1,693 B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CA3AF"/>
                          </a:solidFill>
                        </a:rPr>
                        <a:t>53.72×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CA3AF"/>
                          </a:solidFill>
                        </a:rPr>
                        <a:t>~0.621 SOL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4B5563"/>
                          </a:solidFill>
                        </a:rPr>
                        <a:t>future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B5563"/>
                          </a:solidFill>
                        </a:rPr>
                        <a:t>OpenBook Asks †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B5563"/>
                          </a:solidFill>
                        </a:rPr>
                        <a:t>90,952 B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CA3AF"/>
                          </a:solidFill>
                        </a:rPr>
                        <a:t>1,672 B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CA3AF"/>
                          </a:solidFill>
                        </a:rPr>
                        <a:t>54.40×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CA3AF"/>
                          </a:solidFill>
                        </a:rPr>
                        <a:t>~0.621 SOL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4B5563"/>
                          </a:solidFill>
                        </a:rPr>
                        <a:t>future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1F5F9"/>
                          </a:solidFill>
                        </a:rPr>
                        <a:t>Drift User (inactive)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CA3AF"/>
                          </a:solidFill>
                        </a:rPr>
                        <a:t>4,376 B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ADE80"/>
                          </a:solidFill>
                        </a:rPr>
                        <a:t>265 B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ADE80"/>
                          </a:solidFill>
                        </a:rPr>
                        <a:t>16.51×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ADE80"/>
                          </a:solidFill>
                        </a:rPr>
                        <a:t>~0.029 SOL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ADE80"/>
                          </a:solidFill>
                        </a:rPr>
                        <a:t>ready ✓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1F5F9"/>
                          </a:solidFill>
                        </a:rPr>
                        <a:t>Drift User (semi-active)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CA3AF"/>
                          </a:solidFill>
                        </a:rPr>
                        <a:t>4,376 B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ADE80"/>
                          </a:solidFill>
                        </a:rPr>
                        <a:t>811 B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ADE80"/>
                          </a:solidFill>
                        </a:rPr>
                        <a:t>5.40×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ADE80"/>
                          </a:solidFill>
                        </a:rPr>
                        <a:t>~0.025 SOL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ADE80"/>
                          </a:solidFill>
                        </a:rPr>
                        <a:t>ready ✓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1F5F9"/>
                          </a:solidFill>
                        </a:rPr>
                        <a:t>Drift User (active)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CA3AF"/>
                          </a:solidFill>
                        </a:rPr>
                        <a:t>4,376 B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ADE80"/>
                          </a:solidFill>
                        </a:rPr>
                        <a:t>1,671 B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ADE80"/>
                          </a:solidFill>
                        </a:rPr>
                        <a:t>2.62×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4ADE80"/>
                          </a:solidFill>
                        </a:rPr>
                        <a:t>~0.019 SOL</a:t>
                      </a:r>
                      <a:endParaRPr lang="en-US" sz="11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ADE80"/>
                          </a:solidFill>
                        </a:rPr>
                        <a:t>ready ✓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F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01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450799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OpenBook uses zero-copy layout (bytemuck::Pod) — compression requires protocol adoption.  Rent saving is permanent; CU cost is per-tx. Clear win for any account that lives more than a few weeks.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A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every protocol the SOL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leaving on the table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8321040" cy="2286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2743200" cy="2697480"/>
          </a:xfrm>
          <a:prstGeom prst="rect">
            <a:avLst/>
          </a:prstGeom>
          <a:solidFill>
            <a:srgbClr val="0D1018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274320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indexer dashboard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9923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top protocols. Shows each team: X inactive accounts, Y SOL recoverable. They see their number before we call.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47288" y="1828800"/>
            <a:ext cx="2743200" cy="2697480"/>
          </a:xfrm>
          <a:prstGeom prst="rect">
            <a:avLst/>
          </a:prstGeom>
          <a:solidFill>
            <a:srgbClr val="0D1018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47288" y="1828800"/>
            <a:ext cx="2743200" cy="36576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0168" y="1920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30168" y="23774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densol library (free, open source)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30168" y="299923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integrates themselves. cargo add densol. Single #[compress] attribute. Works with any Anchor/Borsh account.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45936" y="1828800"/>
            <a:ext cx="2743200" cy="2697480"/>
          </a:xfrm>
          <a:prstGeom prst="rect">
            <a:avLst/>
          </a:prstGeom>
          <a:solidFill>
            <a:srgbClr val="0D1018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45936" y="1828800"/>
            <a:ext cx="2743200" cy="36576"/>
          </a:xfrm>
          <a:prstGeom prst="rect">
            <a:avLst/>
          </a:prstGeom>
          <a:solidFill>
            <a:srgbClr val="4B5563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8816" y="1920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528816" y="23774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crank SaaS  (future)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28816" y="299923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Auto-compress inactive accounts. We run the crank. Protocol pays monthly. No devops for them.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663440"/>
            <a:ext cx="8321040" cy="347472"/>
          </a:xfrm>
          <a:prstGeom prst="rect">
            <a:avLst/>
          </a:prstGeom>
          <a:solidFill>
            <a:srgbClr val="111520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66344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 ~5,220 SOL recoverable  ·  Marginfi ~2,750 SOL  ·  Kamino ~1,940 SOL  ·  ~18,400 SOL across 15 protocols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A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286000"/>
            <a:ext cx="11887200" cy="4572000"/>
          </a:xfrm>
          <a:prstGeom prst="ellipse">
            <a:avLst/>
          </a:prstGeom>
          <a:solidFill>
            <a:srgbClr val="2CDD6D">
              <a:alpha val="8000"/>
            </a:srgbClr>
          </a:solidFill>
          <a:ln w="12700">
            <a:solidFill>
              <a:srgbClr val="2CDD6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densol is live.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today.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7863840" cy="2286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3063240"/>
            <a:ext cx="3840480" cy="868680"/>
          </a:xfrm>
          <a:prstGeom prst="rect">
            <a:avLst/>
          </a:prstGeom>
          <a:solidFill>
            <a:srgbClr val="0D1018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1363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cargo add densol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4930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crates.io/crates/densol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3063240"/>
            <a:ext cx="3840480" cy="868680"/>
          </a:xfrm>
          <a:prstGeom prst="rect">
            <a:avLst/>
          </a:prstGeom>
          <a:solidFill>
            <a:srgbClr val="0D1018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254000" dist="76200" dir="8100000">
              <a:srgbClr val="00000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31363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github.com/ZygmuntJakub/densol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34930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benchmarks · source · docs at densol.dev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"If your Solana program stores more than 4 KB of data,</a:t>
            </a:r>
            <a:endParaRPr lang="en-US" sz="1500" dirty="0"/>
          </a:p>
          <a:p>
            <a:pPr algn="l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leaving SOL on the table."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densol — On-Chain Compression for Solana</dc:title>
  <dc:subject>PptxGenJS Presentation</dc:subject>
  <dc:creator>PptxGenJS</dc:creator>
  <cp:lastModifiedBy>PptxGenJS</cp:lastModifiedBy>
  <cp:revision>1</cp:revision>
  <dcterms:created xsi:type="dcterms:W3CDTF">2026-03-22T08:56:25Z</dcterms:created>
  <dcterms:modified xsi:type="dcterms:W3CDTF">2026-03-22T08:56:25Z</dcterms:modified>
</cp:coreProperties>
</file>